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8D5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60" d="100"/>
          <a:sy n="60" d="100"/>
        </p:scale>
        <p:origin x="96" y="9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28868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endParaRPr lang="en-IN"/>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F19086D8-7E25-46A3-9ADE-416F0D8F3C34}" type="slidenum">
              <a:rPr lang="en-IN" smtClean="0"/>
              <a:t>‹#›</a:t>
            </a:fld>
            <a:endParaRPr lang="en-IN"/>
          </a:p>
        </p:txBody>
      </p:sp>
    </p:spTree>
    <p:extLst>
      <p:ext uri="{BB962C8B-B14F-4D97-AF65-F5344CB8AC3E}">
        <p14:creationId xmlns:p14="http://schemas.microsoft.com/office/powerpoint/2010/main" val="4193512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8340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42371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endParaRPr lang="en-IN"/>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F19086D8-7E25-46A3-9ADE-416F0D8F3C34}" type="slidenum">
              <a:rPr lang="en-IN" smtClean="0"/>
              <a:t>‹#›</a:t>
            </a:fld>
            <a:endParaRPr lang="en-IN"/>
          </a:p>
        </p:txBody>
      </p:sp>
    </p:spTree>
    <p:extLst>
      <p:ext uri="{BB962C8B-B14F-4D97-AF65-F5344CB8AC3E}">
        <p14:creationId xmlns:p14="http://schemas.microsoft.com/office/powerpoint/2010/main" val="3419142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101663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endParaRPr lang="en-IN"/>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F19086D8-7E25-46A3-9ADE-416F0D8F3C34}" type="slidenum">
              <a:rPr lang="en-IN" smtClean="0"/>
              <a:t>‹#›</a:t>
            </a:fld>
            <a:endParaRPr lang="en-IN"/>
          </a:p>
        </p:txBody>
      </p:sp>
    </p:spTree>
    <p:extLst>
      <p:ext uri="{BB962C8B-B14F-4D97-AF65-F5344CB8AC3E}">
        <p14:creationId xmlns:p14="http://schemas.microsoft.com/office/powerpoint/2010/main" val="1740157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endParaRPr lang="en-IN"/>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F19086D8-7E25-46A3-9ADE-416F0D8F3C34}" type="slidenum">
              <a:rPr lang="en-IN" smtClean="0"/>
              <a:t>‹#›</a:t>
            </a:fld>
            <a:endParaRPr lang="en-IN"/>
          </a:p>
        </p:txBody>
      </p:sp>
    </p:spTree>
    <p:extLst>
      <p:ext uri="{BB962C8B-B14F-4D97-AF65-F5344CB8AC3E}">
        <p14:creationId xmlns:p14="http://schemas.microsoft.com/office/powerpoint/2010/main" val="3871306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endParaRPr lang="en-IN"/>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F19086D8-7E25-46A3-9ADE-416F0D8F3C34}" type="slidenum">
              <a:rPr lang="en-IN" smtClean="0"/>
              <a:t>‹#›</a:t>
            </a:fld>
            <a:endParaRPr lang="en-IN"/>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02850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endParaRPr lang="en-IN"/>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F19086D8-7E25-46A3-9ADE-416F0D8F3C34}" type="slidenum">
              <a:rPr lang="en-IN" smtClean="0"/>
              <a:t>‹#›</a:t>
            </a:fld>
            <a:endParaRPr lang="en-IN"/>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094416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endParaRPr lang="en-IN"/>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F19086D8-7E25-46A3-9ADE-416F0D8F3C34}" type="slidenum">
              <a:rPr lang="en-IN" smtClean="0"/>
              <a:t>‹#›</a:t>
            </a:fld>
            <a:endParaRPr lang="en-IN"/>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3129811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endParaRPr lang="en-IN"/>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F19086D8-7E25-46A3-9ADE-416F0D8F3C34}" type="slidenum">
              <a:rPr lang="en-IN" smtClean="0"/>
              <a:t>‹#›</a:t>
            </a:fld>
            <a:endParaRPr lang="en-IN"/>
          </a:p>
        </p:txBody>
      </p:sp>
    </p:spTree>
    <p:extLst>
      <p:ext uri="{BB962C8B-B14F-4D97-AF65-F5344CB8AC3E}">
        <p14:creationId xmlns:p14="http://schemas.microsoft.com/office/powerpoint/2010/main" val="114628716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endParaRPr lang="en-IN"/>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F19086D8-7E25-46A3-9ADE-416F0D8F3C34}" type="slidenum">
              <a:rPr lang="en-IN" smtClean="0"/>
              <a:t>‹#›</a:t>
            </a:fld>
            <a:endParaRPr lang="en-IN"/>
          </a:p>
        </p:txBody>
      </p:sp>
    </p:spTree>
    <p:extLst>
      <p:ext uri="{BB962C8B-B14F-4D97-AF65-F5344CB8AC3E}">
        <p14:creationId xmlns:p14="http://schemas.microsoft.com/office/powerpoint/2010/main" val="3586487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12E1D4-CB41-4883-A0C0-6ED4FA1A66A8}" type="datetimeFigureOut">
              <a:rPr lang="en-IN" smtClean="0"/>
              <a:t>08-10-2024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9086D8-7E25-46A3-9ADE-416F0D8F3C34}" type="slidenum">
              <a:rPr lang="en-IN" smtClean="0"/>
              <a:t>‹#›</a:t>
            </a:fld>
            <a:endParaRPr lang="en-IN"/>
          </a:p>
        </p:txBody>
      </p:sp>
    </p:spTree>
    <p:extLst>
      <p:ext uri="{BB962C8B-B14F-4D97-AF65-F5344CB8AC3E}">
        <p14:creationId xmlns:p14="http://schemas.microsoft.com/office/powerpoint/2010/main" val="2800831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12E1D4-CB41-4883-A0C0-6ED4FA1A66A8}" type="datetimeFigureOut">
              <a:rPr lang="en-IN" smtClean="0"/>
              <a:t>08-10-2024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9086D8-7E25-46A3-9ADE-416F0D8F3C34}" type="slidenum">
              <a:rPr lang="en-IN" smtClean="0"/>
              <a:t>‹#›</a:t>
            </a:fld>
            <a:endParaRPr lang="en-IN"/>
          </a:p>
        </p:txBody>
      </p:sp>
    </p:spTree>
    <p:extLst>
      <p:ext uri="{BB962C8B-B14F-4D97-AF65-F5344CB8AC3E}">
        <p14:creationId xmlns:p14="http://schemas.microsoft.com/office/powerpoint/2010/main" val="3278461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9086D8-7E25-46A3-9ADE-416F0D8F3C34}" type="slidenum">
              <a:rPr lang="en-IN" smtClean="0"/>
              <a:t>‹#›</a:t>
            </a:fld>
            <a:endParaRPr lang="en-IN"/>
          </a:p>
        </p:txBody>
      </p:sp>
    </p:spTree>
    <p:extLst>
      <p:ext uri="{BB962C8B-B14F-4D97-AF65-F5344CB8AC3E}">
        <p14:creationId xmlns:p14="http://schemas.microsoft.com/office/powerpoint/2010/main" val="3774475584"/>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eakpx.com/19235/water-droplet/1440x900-wallpaper" TargetMode="External"/><Relationship Id="rId2" Type="http://schemas.openxmlformats.org/officeDocument/2006/relationships/image" Target="../media/image13.jp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www.vecteezy.com/photo/9371665-water-texture-seamless-natural-photo-high-quality" TargetMode="External"/><Relationship Id="rId2" Type="http://schemas.openxmlformats.org/officeDocument/2006/relationships/image" Target="../media/image14.jpg"/><Relationship Id="rId1" Type="http://schemas.openxmlformats.org/officeDocument/2006/relationships/slideLayout" Target="../slideLayouts/slideLayout14.xml"/><Relationship Id="rId5" Type="http://schemas.openxmlformats.org/officeDocument/2006/relationships/hyperlink" Target="https://circuitdigest.com/microcontroller-projects/arduino-nodemcu-based-smart-water-quality-monitoring-system-using-iot" TargetMode="External"/><Relationship Id="rId4" Type="http://schemas.openxmlformats.org/officeDocument/2006/relationships/image" Target="../media/image15.jpg"/></Relationships>
</file>

<file path=ppt/slides/_rels/slide3.xml.rels><?xml version="1.0" encoding="UTF-8" standalone="yes"?>
<Relationships xmlns="http://schemas.openxmlformats.org/package/2006/relationships"><Relationship Id="rId3" Type="http://schemas.openxmlformats.org/officeDocument/2006/relationships/hyperlink" Target="https://www.vecteezy.com/photo/9371665-water-texture-seamless-natural-photo-high-quality" TargetMode="External"/><Relationship Id="rId2" Type="http://schemas.openxmlformats.org/officeDocument/2006/relationships/image" Target="../media/image14.jpg"/><Relationship Id="rId1" Type="http://schemas.openxmlformats.org/officeDocument/2006/relationships/slideLayout" Target="../slideLayouts/slideLayout15.xml"/><Relationship Id="rId5" Type="http://schemas.openxmlformats.org/officeDocument/2006/relationships/hyperlink" Target="https://www.memedroid.com/memes/detail/2685591/Reminder-to-drink-some-water" TargetMode="Externa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hyperlink" Target="https://www.vecteezy.com/photo/9371665-water-texture-seamless-natural-photo-high-quality" TargetMode="External"/><Relationship Id="rId2" Type="http://schemas.openxmlformats.org/officeDocument/2006/relationships/image" Target="../media/image14.jp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hyperlink" Target="https://www.vecteezy.com/photo/9371665-water-texture-seamless-natural-photo-high-quality" TargetMode="External"/><Relationship Id="rId2" Type="http://schemas.openxmlformats.org/officeDocument/2006/relationships/image" Target="../media/image14.jp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hyperlink" Target="https://www.vecteezy.com/photo/9371665-water-texture-seamless-natural-photo-high-quality" TargetMode="External"/><Relationship Id="rId2" Type="http://schemas.openxmlformats.org/officeDocument/2006/relationships/image" Target="../media/image14.jp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hyperlink" Target="https://www.vecteezy.com/photo/9371665-water-texture-seamless-natural-photo-high-quality" TargetMode="External"/><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inspiredpencil.com/pictures-2023/flowing-river-animation" TargetMode="External"/><Relationship Id="rId2" Type="http://schemas.openxmlformats.org/officeDocument/2006/relationships/image" Target="../media/image1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FC8F0-59D1-4126-F1C3-274A5BAAA236}"/>
              </a:ext>
            </a:extLst>
          </p:cNvPr>
          <p:cNvSpPr>
            <a:spLocks noGrp="1"/>
          </p:cNvSpPr>
          <p:nvPr>
            <p:ph type="ctrTitle"/>
          </p:nvPr>
        </p:nvSpPr>
        <p:spPr>
          <a:xfrm>
            <a:off x="1933896" y="561034"/>
            <a:ext cx="8324208" cy="1444746"/>
          </a:xfrm>
        </p:spPr>
        <p:txBody>
          <a:bodyPr>
            <a:normAutofit/>
          </a:bodyPr>
          <a:lstStyle/>
          <a:p>
            <a:pPr algn="ctr"/>
            <a:r>
              <a:rPr lang="en-US" dirty="0">
                <a:solidFill>
                  <a:schemeClr val="tx1"/>
                </a:solidFill>
              </a:rPr>
              <a:t>Smart Water Quality Monitoring System</a:t>
            </a:r>
            <a:endParaRPr lang="en-IN" dirty="0">
              <a:solidFill>
                <a:schemeClr val="tx1"/>
              </a:solidFill>
            </a:endParaRPr>
          </a:p>
        </p:txBody>
      </p:sp>
      <p:sp>
        <p:nvSpPr>
          <p:cNvPr id="3" name="Subtitle 2">
            <a:extLst>
              <a:ext uri="{FF2B5EF4-FFF2-40B4-BE49-F238E27FC236}">
                <a16:creationId xmlns:a16="http://schemas.microsoft.com/office/drawing/2014/main" id="{49EBCF8A-0070-16EA-0B1E-67383458ADCC}"/>
              </a:ext>
            </a:extLst>
          </p:cNvPr>
          <p:cNvSpPr>
            <a:spLocks noGrp="1"/>
          </p:cNvSpPr>
          <p:nvPr>
            <p:ph type="subTitle" idx="1"/>
          </p:nvPr>
        </p:nvSpPr>
        <p:spPr>
          <a:xfrm>
            <a:off x="3507971" y="2816444"/>
            <a:ext cx="5176058" cy="1225111"/>
          </a:xfrm>
        </p:spPr>
        <p:txBody>
          <a:bodyPr>
            <a:normAutofit/>
          </a:bodyPr>
          <a:lstStyle/>
          <a:p>
            <a:pPr algn="ctr"/>
            <a:r>
              <a:rPr lang="en-IN" sz="5000" dirty="0">
                <a:highlight>
                  <a:srgbClr val="0000FF"/>
                </a:highlight>
              </a:rPr>
              <a:t>ClearWatts</a:t>
            </a:r>
          </a:p>
        </p:txBody>
      </p:sp>
    </p:spTree>
    <p:extLst>
      <p:ext uri="{BB962C8B-B14F-4D97-AF65-F5344CB8AC3E}">
        <p14:creationId xmlns:p14="http://schemas.microsoft.com/office/powerpoint/2010/main" val="880353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6589F-204F-61C0-0A26-DF4C4247AEE6}"/>
              </a:ext>
            </a:extLst>
          </p:cNvPr>
          <p:cNvSpPr>
            <a:spLocks noGrp="1"/>
          </p:cNvSpPr>
          <p:nvPr>
            <p:ph type="title"/>
          </p:nvPr>
        </p:nvSpPr>
        <p:spPr>
          <a:xfrm>
            <a:off x="4129881" y="457200"/>
            <a:ext cx="3932237" cy="530225"/>
          </a:xfrm>
          <a:noFill/>
        </p:spPr>
        <p:txBody>
          <a:bodyPr>
            <a:noAutofit/>
          </a:bodyPr>
          <a:lstStyle/>
          <a:p>
            <a:pPr algn="ctr"/>
            <a:r>
              <a:rPr lang="en-IN" sz="4400" dirty="0"/>
              <a:t>Abstract</a:t>
            </a:r>
          </a:p>
        </p:txBody>
      </p:sp>
      <p:sp>
        <p:nvSpPr>
          <p:cNvPr id="4" name="Text Placeholder 3">
            <a:extLst>
              <a:ext uri="{FF2B5EF4-FFF2-40B4-BE49-F238E27FC236}">
                <a16:creationId xmlns:a16="http://schemas.microsoft.com/office/drawing/2014/main" id="{8B1EE6D5-5B51-A112-D507-5683015FD607}"/>
              </a:ext>
            </a:extLst>
          </p:cNvPr>
          <p:cNvSpPr>
            <a:spLocks noGrp="1"/>
          </p:cNvSpPr>
          <p:nvPr>
            <p:ph type="body" sz="half" idx="2"/>
          </p:nvPr>
        </p:nvSpPr>
        <p:spPr>
          <a:xfrm>
            <a:off x="406651" y="1734970"/>
            <a:ext cx="3932237" cy="4665830"/>
          </a:xfrm>
        </p:spPr>
        <p:txBody>
          <a:bodyPr>
            <a:normAutofit/>
          </a:bodyPr>
          <a:lstStyle/>
          <a:p>
            <a:r>
              <a:rPr lang="en-US" dirty="0"/>
              <a:t>This project introduces </a:t>
            </a:r>
            <a:r>
              <a:rPr lang="en-US" b="1" dirty="0" err="1"/>
              <a:t>ClearWatts</a:t>
            </a:r>
            <a:r>
              <a:rPr lang="en-US" dirty="0"/>
              <a:t>, an AI-powered Smart Water Quality Monitoring System that integrates advanced IoT hardware such as pH sensors, turbidity sensors, dissolved oxygen sensors, and conductivity meters, along with microcontrollers like Arduino or Raspberry Pi for data acquisition and transmission. These devices collect real-time data on water quality, which is processed through cloud analytics and AI-driven algorithms for predictive insights. The system enables early detection of contamination, allowing for timely interventions. By combining robust hardware with intelligent software, </a:t>
            </a:r>
            <a:r>
              <a:rPr lang="en-US" b="1" dirty="0" err="1"/>
              <a:t>ClearWatts</a:t>
            </a:r>
            <a:r>
              <a:rPr lang="en-US" dirty="0"/>
              <a:t> enhances water management practices, promotes environmental sustainability, and safeguards public health.</a:t>
            </a:r>
            <a:endParaRPr lang="en-IN" dirty="0"/>
          </a:p>
        </p:txBody>
      </p:sp>
      <p:pic>
        <p:nvPicPr>
          <p:cNvPr id="7" name="Picture 6">
            <a:extLst>
              <a:ext uri="{FF2B5EF4-FFF2-40B4-BE49-F238E27FC236}">
                <a16:creationId xmlns:a16="http://schemas.microsoft.com/office/drawing/2014/main" id="{75BD5BBE-08CD-61E6-00DC-93CEA5B021FC}"/>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641599" y="1503166"/>
            <a:ext cx="7143750" cy="4762500"/>
          </a:xfrm>
          <a:prstGeom prst="rect">
            <a:avLst/>
          </a:prstGeom>
        </p:spPr>
      </p:pic>
    </p:spTree>
    <p:extLst>
      <p:ext uri="{BB962C8B-B14F-4D97-AF65-F5344CB8AC3E}">
        <p14:creationId xmlns:p14="http://schemas.microsoft.com/office/powerpoint/2010/main" val="4060407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92DAC-C41E-4057-30C5-EC37C7A0565D}"/>
              </a:ext>
            </a:extLst>
          </p:cNvPr>
          <p:cNvSpPr>
            <a:spLocks noGrp="1"/>
          </p:cNvSpPr>
          <p:nvPr>
            <p:ph type="title"/>
          </p:nvPr>
        </p:nvSpPr>
        <p:spPr>
          <a:xfrm>
            <a:off x="838200" y="203277"/>
            <a:ext cx="10515600" cy="886159"/>
          </a:xfrm>
        </p:spPr>
        <p:txBody>
          <a:bodyPr>
            <a:normAutofit/>
          </a:bodyPr>
          <a:lstStyle/>
          <a:p>
            <a:pPr algn="ctr"/>
            <a:r>
              <a:rPr lang="en-IN" sz="4400" dirty="0"/>
              <a:t>Introduction</a:t>
            </a:r>
          </a:p>
        </p:txBody>
      </p:sp>
      <p:sp>
        <p:nvSpPr>
          <p:cNvPr id="6" name="TextBox 5">
            <a:extLst>
              <a:ext uri="{FF2B5EF4-FFF2-40B4-BE49-F238E27FC236}">
                <a16:creationId xmlns:a16="http://schemas.microsoft.com/office/drawing/2014/main" id="{68220464-9F35-A2DB-3156-152AD2B0E20F}"/>
              </a:ext>
            </a:extLst>
          </p:cNvPr>
          <p:cNvSpPr txBox="1"/>
          <p:nvPr/>
        </p:nvSpPr>
        <p:spPr>
          <a:xfrm>
            <a:off x="184484" y="1203158"/>
            <a:ext cx="6633410" cy="5632311"/>
          </a:xfrm>
          <a:prstGeom prst="rect">
            <a:avLst/>
          </a:prstGeom>
          <a:noFill/>
        </p:spPr>
        <p:txBody>
          <a:bodyPr wrap="square" rtlCol="0">
            <a:spAutoFit/>
          </a:bodyPr>
          <a:lstStyle/>
          <a:p>
            <a:pPr marL="285750" indent="-285750" algn="just">
              <a:buFont typeface="Arial" panose="020B0604020202020204" pitchFamily="34" charset="0"/>
              <a:buChar char="•"/>
            </a:pPr>
            <a:r>
              <a:rPr lang="en-US" dirty="0"/>
              <a:t>Water Quality Threats: Increasing pollution from industrial waste, agricultural runoff, and other contaminants poses a major risk to water quality and public </a:t>
            </a:r>
            <a:r>
              <a:rPr lang="en-US" dirty="0" err="1"/>
              <a:t>health.Current</a:t>
            </a:r>
            <a:r>
              <a:rPr lang="en-US" dirty="0"/>
              <a:t> water quality monitoring methods are often manual, time-consuming, and lack real-time data, making it difficult to detect and respond to contamination in a timely manner.</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 Hardware Components: Utilizes sensors and microcontrollers (e.g., Arduino, Raspberry Pi) to collect and transmit </a:t>
            </a:r>
            <a:r>
              <a:rPr lang="en-US" dirty="0" err="1"/>
              <a:t>data.Then</a:t>
            </a:r>
            <a:r>
              <a:rPr lang="en-US" dirty="0"/>
              <a:t> data is processed in the cloud using AI algorithms, offering real-time analysis and predictive capabilities.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Sustainability and Global Impact : Supports sustainable water management practices, aligning with environmental goals like the UN's Sustainable Development Goals (SDGs).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Goal: To provide an efficient, automated, and scalable solution for improving water quality monitoring and ensuring safe, clean water access through timely detection and actionable insights.</a:t>
            </a:r>
            <a:endParaRPr lang="en-IN" dirty="0"/>
          </a:p>
        </p:txBody>
      </p:sp>
      <p:pic>
        <p:nvPicPr>
          <p:cNvPr id="4" name="Picture 3">
            <a:extLst>
              <a:ext uri="{FF2B5EF4-FFF2-40B4-BE49-F238E27FC236}">
                <a16:creationId xmlns:a16="http://schemas.microsoft.com/office/drawing/2014/main" id="{BEA1147F-0C66-6CFB-8F89-A07A6BA36E7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271886" y="1203158"/>
            <a:ext cx="4511040" cy="4451684"/>
          </a:xfrm>
          <a:prstGeom prst="rect">
            <a:avLst/>
          </a:prstGeom>
        </p:spPr>
      </p:pic>
    </p:spTree>
    <p:extLst>
      <p:ext uri="{BB962C8B-B14F-4D97-AF65-F5344CB8AC3E}">
        <p14:creationId xmlns:p14="http://schemas.microsoft.com/office/powerpoint/2010/main" val="2404178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12F8A-2FDF-7C8F-DD65-B760C7F2F7FE}"/>
              </a:ext>
            </a:extLst>
          </p:cNvPr>
          <p:cNvSpPr>
            <a:spLocks noGrp="1"/>
          </p:cNvSpPr>
          <p:nvPr>
            <p:ph type="title"/>
          </p:nvPr>
        </p:nvSpPr>
        <p:spPr>
          <a:xfrm>
            <a:off x="838199" y="245253"/>
            <a:ext cx="10515600" cy="701231"/>
          </a:xfrm>
        </p:spPr>
        <p:txBody>
          <a:bodyPr>
            <a:normAutofit/>
          </a:bodyPr>
          <a:lstStyle/>
          <a:p>
            <a:pPr algn="ctr"/>
            <a:r>
              <a:rPr lang="en-IN" sz="4400" dirty="0"/>
              <a:t>Literature Survey in Table Format</a:t>
            </a:r>
          </a:p>
        </p:txBody>
      </p:sp>
      <p:graphicFrame>
        <p:nvGraphicFramePr>
          <p:cNvPr id="3" name="Table 2">
            <a:extLst>
              <a:ext uri="{FF2B5EF4-FFF2-40B4-BE49-F238E27FC236}">
                <a16:creationId xmlns:a16="http://schemas.microsoft.com/office/drawing/2014/main" id="{D869ABCE-C9D2-85EF-903C-B22495B4803F}"/>
              </a:ext>
            </a:extLst>
          </p:cNvPr>
          <p:cNvGraphicFramePr>
            <a:graphicFrameLocks noGrp="1"/>
          </p:cNvGraphicFramePr>
          <p:nvPr>
            <p:extLst>
              <p:ext uri="{D42A27DB-BD31-4B8C-83A1-F6EECF244321}">
                <p14:modId xmlns:p14="http://schemas.microsoft.com/office/powerpoint/2010/main" val="2360723714"/>
              </p:ext>
            </p:extLst>
          </p:nvPr>
        </p:nvGraphicFramePr>
        <p:xfrm>
          <a:off x="288757" y="1428376"/>
          <a:ext cx="11614485" cy="5184371"/>
        </p:xfrm>
        <a:graphic>
          <a:graphicData uri="http://schemas.openxmlformats.org/drawingml/2006/table">
            <a:tbl>
              <a:tblPr firstRow="1" bandRow="1">
                <a:tableStyleId>{5C22544A-7EE6-4342-B048-85BDC9FD1C3A}</a:tableStyleId>
              </a:tblPr>
              <a:tblGrid>
                <a:gridCol w="834190">
                  <a:extLst>
                    <a:ext uri="{9D8B030D-6E8A-4147-A177-3AD203B41FA5}">
                      <a16:colId xmlns:a16="http://schemas.microsoft.com/office/drawing/2014/main" val="3918100689"/>
                    </a:ext>
                  </a:extLst>
                </a:gridCol>
                <a:gridCol w="2117558">
                  <a:extLst>
                    <a:ext uri="{9D8B030D-6E8A-4147-A177-3AD203B41FA5}">
                      <a16:colId xmlns:a16="http://schemas.microsoft.com/office/drawing/2014/main" val="2290741695"/>
                    </a:ext>
                  </a:extLst>
                </a:gridCol>
                <a:gridCol w="4016943">
                  <a:extLst>
                    <a:ext uri="{9D8B030D-6E8A-4147-A177-3AD203B41FA5}">
                      <a16:colId xmlns:a16="http://schemas.microsoft.com/office/drawing/2014/main" val="2838918777"/>
                    </a:ext>
                  </a:extLst>
                </a:gridCol>
                <a:gridCol w="972151">
                  <a:extLst>
                    <a:ext uri="{9D8B030D-6E8A-4147-A177-3AD203B41FA5}">
                      <a16:colId xmlns:a16="http://schemas.microsoft.com/office/drawing/2014/main" val="1075250182"/>
                    </a:ext>
                  </a:extLst>
                </a:gridCol>
                <a:gridCol w="3673643">
                  <a:extLst>
                    <a:ext uri="{9D8B030D-6E8A-4147-A177-3AD203B41FA5}">
                      <a16:colId xmlns:a16="http://schemas.microsoft.com/office/drawing/2014/main" val="2824782779"/>
                    </a:ext>
                  </a:extLst>
                </a:gridCol>
              </a:tblGrid>
              <a:tr h="428134">
                <a:tc>
                  <a:txBody>
                    <a:bodyPr/>
                    <a:lstStyle/>
                    <a:p>
                      <a:pPr algn="ctr"/>
                      <a:r>
                        <a:rPr lang="en-IN" b="1" dirty="0" err="1"/>
                        <a:t>S.No</a:t>
                      </a:r>
                      <a:r>
                        <a:rPr lang="en-IN" b="1" dirty="0"/>
                        <a:t>.</a:t>
                      </a:r>
                    </a:p>
                  </a:txBody>
                  <a:tcPr anchor="ctr">
                    <a:solidFill>
                      <a:srgbClr val="002060"/>
                    </a:solidFill>
                  </a:tcPr>
                </a:tc>
                <a:tc>
                  <a:txBody>
                    <a:bodyPr/>
                    <a:lstStyle/>
                    <a:p>
                      <a:pPr algn="ctr"/>
                      <a:r>
                        <a:rPr lang="en-IN" b="1" dirty="0"/>
                        <a:t>Title</a:t>
                      </a:r>
                    </a:p>
                  </a:txBody>
                  <a:tcPr anchor="ctr">
                    <a:solidFill>
                      <a:srgbClr val="002060"/>
                    </a:solidFill>
                  </a:tcPr>
                </a:tc>
                <a:tc>
                  <a:txBody>
                    <a:bodyPr/>
                    <a:lstStyle/>
                    <a:p>
                      <a:pPr algn="ctr"/>
                      <a:r>
                        <a:rPr lang="en-IN" b="1" dirty="0"/>
                        <a:t>Journal Name</a:t>
                      </a:r>
                    </a:p>
                  </a:txBody>
                  <a:tcPr anchor="ctr">
                    <a:solidFill>
                      <a:srgbClr val="002060"/>
                    </a:solidFill>
                  </a:tcPr>
                </a:tc>
                <a:tc>
                  <a:txBody>
                    <a:bodyPr/>
                    <a:lstStyle/>
                    <a:p>
                      <a:pPr algn="ctr"/>
                      <a:r>
                        <a:rPr lang="en-IN" b="1" dirty="0"/>
                        <a:t>Year</a:t>
                      </a:r>
                    </a:p>
                  </a:txBody>
                  <a:tcPr anchor="ctr">
                    <a:solidFill>
                      <a:srgbClr val="002060"/>
                    </a:solidFill>
                  </a:tcPr>
                </a:tc>
                <a:tc>
                  <a:txBody>
                    <a:bodyPr/>
                    <a:lstStyle/>
                    <a:p>
                      <a:pPr algn="ctr"/>
                      <a:r>
                        <a:rPr lang="en-IN" b="1" dirty="0"/>
                        <a:t>Review</a:t>
                      </a:r>
                    </a:p>
                  </a:txBody>
                  <a:tcPr anchor="ctr">
                    <a:solidFill>
                      <a:srgbClr val="002060"/>
                    </a:solidFill>
                  </a:tcPr>
                </a:tc>
                <a:extLst>
                  <a:ext uri="{0D108BD9-81ED-4DB2-BD59-A6C34878D82A}">
                    <a16:rowId xmlns:a16="http://schemas.microsoft.com/office/drawing/2014/main" val="353781383"/>
                  </a:ext>
                </a:extLst>
              </a:tr>
              <a:tr h="1362742">
                <a:tc>
                  <a:txBody>
                    <a:bodyPr/>
                    <a:lstStyle/>
                    <a:p>
                      <a:pPr algn="ctr"/>
                      <a:r>
                        <a:rPr lang="en-IN" dirty="0"/>
                        <a:t>1</a:t>
                      </a:r>
                    </a:p>
                  </a:txBody>
                  <a:tcPr anchor="ctr">
                    <a:solidFill>
                      <a:srgbClr val="A8D5D6"/>
                    </a:solidFill>
                  </a:tcPr>
                </a:tc>
                <a:tc>
                  <a:txBody>
                    <a:bodyPr/>
                    <a:lstStyle/>
                    <a:p>
                      <a:pPr algn="ctr"/>
                      <a:r>
                        <a:rPr lang="en-US" dirty="0"/>
                        <a:t>IEEE Internet of Things Journal</a:t>
                      </a:r>
                      <a:endParaRPr lang="en-IN" dirty="0"/>
                    </a:p>
                  </a:txBody>
                  <a:tcPr anchor="ctr">
                    <a:solidFill>
                      <a:srgbClr val="A8D5D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Quality Assessment and Monitoring of River Water Using IoT Infrastructure</a:t>
                      </a:r>
                    </a:p>
                    <a:p>
                      <a:pPr algn="ctr"/>
                      <a:endParaRPr lang="en-IN" dirty="0"/>
                    </a:p>
                  </a:txBody>
                  <a:tcPr anchor="ctr">
                    <a:solidFill>
                      <a:srgbClr val="A8D5D6"/>
                    </a:solidFill>
                  </a:tcPr>
                </a:tc>
                <a:tc>
                  <a:txBody>
                    <a:bodyPr/>
                    <a:lstStyle/>
                    <a:p>
                      <a:pPr algn="ctr"/>
                      <a:r>
                        <a:rPr lang="en-IN" dirty="0"/>
                        <a:t>2023</a:t>
                      </a:r>
                    </a:p>
                  </a:txBody>
                  <a:tcPr anchor="ctr">
                    <a:solidFill>
                      <a:srgbClr val="A8D5D6"/>
                    </a:solidFill>
                  </a:tcPr>
                </a:tc>
                <a:tc>
                  <a:txBody>
                    <a:bodyPr/>
                    <a:lstStyle/>
                    <a:p>
                      <a:pPr algn="ctr"/>
                      <a:r>
                        <a:rPr lang="en-US" sz="1600" dirty="0"/>
                        <a:t>IoT technology automates water quality monitoring, providing valuable insights into river health and pollution.</a:t>
                      </a:r>
                      <a:endParaRPr lang="en-IN" sz="1600" dirty="0"/>
                    </a:p>
                  </a:txBody>
                  <a:tcPr anchor="ctr">
                    <a:solidFill>
                      <a:srgbClr val="A8D5D6"/>
                    </a:solidFill>
                  </a:tcPr>
                </a:tc>
                <a:extLst>
                  <a:ext uri="{0D108BD9-81ED-4DB2-BD59-A6C34878D82A}">
                    <a16:rowId xmlns:a16="http://schemas.microsoft.com/office/drawing/2014/main" val="1951385390"/>
                  </a:ext>
                </a:extLst>
              </a:tr>
              <a:tr h="1603226">
                <a:tc>
                  <a:txBody>
                    <a:bodyPr/>
                    <a:lstStyle/>
                    <a:p>
                      <a:pPr algn="ctr"/>
                      <a:r>
                        <a:rPr lang="en-IN" dirty="0"/>
                        <a:t>2</a:t>
                      </a:r>
                    </a:p>
                  </a:txBody>
                  <a:tcPr anchor="ctr">
                    <a:solidFill>
                      <a:srgbClr val="A8D5D6"/>
                    </a:solidFill>
                  </a:tcPr>
                </a:tc>
                <a:tc>
                  <a:txBody>
                    <a:bodyPr/>
                    <a:lstStyle/>
                    <a:p>
                      <a:pPr algn="ctr"/>
                      <a:r>
                        <a:rPr lang="en-IN" dirty="0"/>
                        <a:t> IEEE Sensors Journal </a:t>
                      </a:r>
                    </a:p>
                  </a:txBody>
                  <a:tcPr anchor="ctr">
                    <a:solidFill>
                      <a:srgbClr val="A8D5D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Design and Implementation of a Full-Time Artificial Intelligence of Things-Based Water Quality Inspection and Prediction System for Intelligent Aquaculture</a:t>
                      </a:r>
                    </a:p>
                  </a:txBody>
                  <a:tcPr anchor="ctr">
                    <a:solidFill>
                      <a:srgbClr val="A8D5D6"/>
                    </a:solidFill>
                  </a:tcPr>
                </a:tc>
                <a:tc>
                  <a:txBody>
                    <a:bodyPr/>
                    <a:lstStyle/>
                    <a:p>
                      <a:pPr algn="ctr"/>
                      <a:r>
                        <a:rPr lang="en-IN" dirty="0"/>
                        <a:t>2024</a:t>
                      </a:r>
                    </a:p>
                  </a:txBody>
                  <a:tcPr anchor="ctr">
                    <a:solidFill>
                      <a:srgbClr val="A8D5D6"/>
                    </a:solidFill>
                  </a:tcPr>
                </a:tc>
                <a:tc>
                  <a:txBody>
                    <a:bodyPr/>
                    <a:lstStyle/>
                    <a:p>
                      <a:pPr algn="ctr"/>
                      <a:r>
                        <a:rPr lang="en-IN" sz="1600" dirty="0"/>
                        <a:t>Enables accurate, continuous water quality prediction for aquaculture management..</a:t>
                      </a:r>
                    </a:p>
                    <a:p>
                      <a:pPr algn="ctr"/>
                      <a:endParaRPr lang="en-IN" dirty="0"/>
                    </a:p>
                  </a:txBody>
                  <a:tcPr anchor="ctr">
                    <a:solidFill>
                      <a:srgbClr val="A8D5D6"/>
                    </a:solidFill>
                  </a:tcPr>
                </a:tc>
                <a:extLst>
                  <a:ext uri="{0D108BD9-81ED-4DB2-BD59-A6C34878D82A}">
                    <a16:rowId xmlns:a16="http://schemas.microsoft.com/office/drawing/2014/main" val="2815093372"/>
                  </a:ext>
                </a:extLst>
              </a:tr>
              <a:tr h="1790269">
                <a:tc>
                  <a:txBody>
                    <a:bodyPr/>
                    <a:lstStyle/>
                    <a:p>
                      <a:pPr algn="ctr"/>
                      <a:r>
                        <a:rPr lang="en-IN" dirty="0"/>
                        <a:t>3</a:t>
                      </a:r>
                    </a:p>
                  </a:txBody>
                  <a:tcPr anchor="ctr">
                    <a:solidFill>
                      <a:srgbClr val="A8D5D6"/>
                    </a:solidFill>
                  </a:tcPr>
                </a:tc>
                <a:tc>
                  <a:txBody>
                    <a:bodyPr/>
                    <a:lstStyle/>
                    <a:p>
                      <a:pPr algn="ctr"/>
                      <a:r>
                        <a:rPr lang="en-IN" dirty="0"/>
                        <a:t>IEEE Transactions on Sustainable Computing</a:t>
                      </a:r>
                    </a:p>
                  </a:txBody>
                  <a:tcPr anchor="ctr">
                    <a:solidFill>
                      <a:srgbClr val="A8D5D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Quality Risk Analysis for Sustainable Smart Water Supply Using Data Perception</a:t>
                      </a:r>
                    </a:p>
                    <a:p>
                      <a:pPr algn="ctr"/>
                      <a:r>
                        <a:rPr lang="en-IN" b="0" dirty="0"/>
                        <a:t> </a:t>
                      </a:r>
                    </a:p>
                  </a:txBody>
                  <a:tcPr anchor="ctr">
                    <a:solidFill>
                      <a:srgbClr val="A8D5D6"/>
                    </a:solidFill>
                  </a:tcPr>
                </a:tc>
                <a:tc>
                  <a:txBody>
                    <a:bodyPr/>
                    <a:lstStyle/>
                    <a:p>
                      <a:pPr algn="ctr"/>
                      <a:r>
                        <a:rPr lang="en-IN" dirty="0"/>
                        <a:t>2019</a:t>
                      </a:r>
                    </a:p>
                  </a:txBody>
                  <a:tcPr anchor="ctr">
                    <a:solidFill>
                      <a:srgbClr val="A8D5D6"/>
                    </a:solidFill>
                  </a:tcPr>
                </a:tc>
                <a:tc>
                  <a:txBody>
                    <a:bodyPr/>
                    <a:lstStyle/>
                    <a:p>
                      <a:pPr algn="ctr"/>
                      <a:r>
                        <a:rPr lang="en-US" sz="1600" dirty="0"/>
                        <a:t>Proposed risk analysis framework improves urban water quality monitoring, enhancing prediction accuracy and decision support.</a:t>
                      </a:r>
                    </a:p>
                    <a:p>
                      <a:pPr algn="ctr"/>
                      <a:endParaRPr lang="en-IN" sz="1600" dirty="0"/>
                    </a:p>
                  </a:txBody>
                  <a:tcPr anchor="ctr">
                    <a:solidFill>
                      <a:srgbClr val="A8D5D6"/>
                    </a:solidFill>
                  </a:tcPr>
                </a:tc>
                <a:extLst>
                  <a:ext uri="{0D108BD9-81ED-4DB2-BD59-A6C34878D82A}">
                    <a16:rowId xmlns:a16="http://schemas.microsoft.com/office/drawing/2014/main" val="715477755"/>
                  </a:ext>
                </a:extLst>
              </a:tr>
            </a:tbl>
          </a:graphicData>
        </a:graphic>
      </p:graphicFrame>
    </p:spTree>
    <p:extLst>
      <p:ext uri="{BB962C8B-B14F-4D97-AF65-F5344CB8AC3E}">
        <p14:creationId xmlns:p14="http://schemas.microsoft.com/office/powerpoint/2010/main" val="343434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795B5-78F4-28AC-F779-60B6ED62FA9E}"/>
              </a:ext>
            </a:extLst>
          </p:cNvPr>
          <p:cNvSpPr>
            <a:spLocks noGrp="1"/>
          </p:cNvSpPr>
          <p:nvPr>
            <p:ph type="title"/>
          </p:nvPr>
        </p:nvSpPr>
        <p:spPr>
          <a:xfrm>
            <a:off x="208547" y="286604"/>
            <a:ext cx="11646569" cy="772175"/>
          </a:xfrm>
        </p:spPr>
        <p:txBody>
          <a:bodyPr>
            <a:normAutofit fontScale="90000"/>
          </a:bodyPr>
          <a:lstStyle/>
          <a:p>
            <a:pPr algn="ctr"/>
            <a:r>
              <a:rPr lang="en-IN" sz="4400" dirty="0"/>
              <a:t>Limitations Identified from Literature Survey</a:t>
            </a:r>
          </a:p>
        </p:txBody>
      </p:sp>
      <p:graphicFrame>
        <p:nvGraphicFramePr>
          <p:cNvPr id="3" name="Table 2">
            <a:extLst>
              <a:ext uri="{FF2B5EF4-FFF2-40B4-BE49-F238E27FC236}">
                <a16:creationId xmlns:a16="http://schemas.microsoft.com/office/drawing/2014/main" id="{F3106F0C-04DA-3FF2-892B-C28D7A141504}"/>
              </a:ext>
            </a:extLst>
          </p:cNvPr>
          <p:cNvGraphicFramePr>
            <a:graphicFrameLocks noGrp="1"/>
          </p:cNvGraphicFramePr>
          <p:nvPr>
            <p:extLst>
              <p:ext uri="{D42A27DB-BD31-4B8C-83A1-F6EECF244321}">
                <p14:modId xmlns:p14="http://schemas.microsoft.com/office/powerpoint/2010/main" val="4268536769"/>
              </p:ext>
            </p:extLst>
          </p:nvPr>
        </p:nvGraphicFramePr>
        <p:xfrm>
          <a:off x="449179" y="1345347"/>
          <a:ext cx="11293641" cy="5226049"/>
        </p:xfrm>
        <a:graphic>
          <a:graphicData uri="http://schemas.openxmlformats.org/drawingml/2006/table">
            <a:tbl>
              <a:tblPr firstRow="1" bandRow="1">
                <a:tableStyleId>{5C22544A-7EE6-4342-B048-85BDC9FD1C3A}</a:tableStyleId>
              </a:tblPr>
              <a:tblGrid>
                <a:gridCol w="3764547">
                  <a:extLst>
                    <a:ext uri="{9D8B030D-6E8A-4147-A177-3AD203B41FA5}">
                      <a16:colId xmlns:a16="http://schemas.microsoft.com/office/drawing/2014/main" val="2580417705"/>
                    </a:ext>
                  </a:extLst>
                </a:gridCol>
                <a:gridCol w="3764547">
                  <a:extLst>
                    <a:ext uri="{9D8B030D-6E8A-4147-A177-3AD203B41FA5}">
                      <a16:colId xmlns:a16="http://schemas.microsoft.com/office/drawing/2014/main" val="394347716"/>
                    </a:ext>
                  </a:extLst>
                </a:gridCol>
                <a:gridCol w="3764547">
                  <a:extLst>
                    <a:ext uri="{9D8B030D-6E8A-4147-A177-3AD203B41FA5}">
                      <a16:colId xmlns:a16="http://schemas.microsoft.com/office/drawing/2014/main" val="3329039305"/>
                    </a:ext>
                  </a:extLst>
                </a:gridCol>
              </a:tblGrid>
              <a:tr h="705853">
                <a:tc>
                  <a:txBody>
                    <a:bodyPr/>
                    <a:lstStyle/>
                    <a:p>
                      <a:pPr algn="ctr"/>
                      <a:r>
                        <a:rPr lang="en-IN" dirty="0"/>
                        <a:t>Title</a:t>
                      </a:r>
                    </a:p>
                  </a:txBody>
                  <a:tcPr anchor="ctr">
                    <a:solidFill>
                      <a:srgbClr val="002060">
                        <a:alpha val="95686"/>
                      </a:srgbClr>
                    </a:solidFill>
                  </a:tcPr>
                </a:tc>
                <a:tc>
                  <a:txBody>
                    <a:bodyPr/>
                    <a:lstStyle/>
                    <a:p>
                      <a:pPr algn="ctr"/>
                      <a:r>
                        <a:rPr lang="en-IN" dirty="0"/>
                        <a:t>Journal Name</a:t>
                      </a:r>
                    </a:p>
                  </a:txBody>
                  <a:tcPr anchor="ctr">
                    <a:solidFill>
                      <a:srgbClr val="002060">
                        <a:alpha val="95686"/>
                      </a:srgbClr>
                    </a:solidFill>
                  </a:tcPr>
                </a:tc>
                <a:tc>
                  <a:txBody>
                    <a:bodyPr/>
                    <a:lstStyle/>
                    <a:p>
                      <a:pPr algn="ctr"/>
                      <a:r>
                        <a:rPr lang="en-IN" dirty="0"/>
                        <a:t>Limitations</a:t>
                      </a:r>
                    </a:p>
                  </a:txBody>
                  <a:tcPr anchor="ctr">
                    <a:solidFill>
                      <a:srgbClr val="002060">
                        <a:alpha val="95686"/>
                      </a:srgbClr>
                    </a:solidFill>
                  </a:tcPr>
                </a:tc>
                <a:extLst>
                  <a:ext uri="{0D108BD9-81ED-4DB2-BD59-A6C34878D82A}">
                    <a16:rowId xmlns:a16="http://schemas.microsoft.com/office/drawing/2014/main" val="489889421"/>
                  </a:ext>
                </a:extLst>
              </a:tr>
              <a:tr h="1224220">
                <a:tc>
                  <a:txBody>
                    <a:bodyPr/>
                    <a:lstStyle/>
                    <a:p>
                      <a:pPr algn="ctr"/>
                      <a:r>
                        <a:rPr lang="en-US" dirty="0"/>
                        <a:t>IEEE Internet of Things Journal</a:t>
                      </a:r>
                      <a:endParaRPr lang="en-IN" dirty="0"/>
                    </a:p>
                  </a:txBody>
                  <a:tcPr anchor="ctr">
                    <a:solidFill>
                      <a:srgbClr val="A8D5D6">
                        <a:alpha val="95686"/>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Quality Assessment and Monitoring of River Water Using IoT Infrastructure</a:t>
                      </a:r>
                    </a:p>
                  </a:txBody>
                  <a:tcPr anchor="ctr">
                    <a:solidFill>
                      <a:srgbClr val="A8D5D6">
                        <a:alpha val="95686"/>
                      </a:srgbClr>
                    </a:solidFill>
                  </a:tcPr>
                </a:tc>
                <a:tc>
                  <a:txBody>
                    <a:bodyPr/>
                    <a:lstStyle/>
                    <a:p>
                      <a:pPr algn="ctr"/>
                      <a:r>
                        <a:rPr lang="en-US" dirty="0"/>
                        <a:t>Lack of detailed calibration protocols for sensors may compromise accuracy in water quality measurements.</a:t>
                      </a:r>
                      <a:endParaRPr lang="en-IN" dirty="0"/>
                    </a:p>
                  </a:txBody>
                  <a:tcPr anchor="ctr">
                    <a:solidFill>
                      <a:srgbClr val="A8D5D6">
                        <a:alpha val="95686"/>
                      </a:srgbClr>
                    </a:solidFill>
                  </a:tcPr>
                </a:tc>
                <a:extLst>
                  <a:ext uri="{0D108BD9-81ED-4DB2-BD59-A6C34878D82A}">
                    <a16:rowId xmlns:a16="http://schemas.microsoft.com/office/drawing/2014/main" val="2222788360"/>
                  </a:ext>
                </a:extLst>
              </a:tr>
              <a:tr h="1789244">
                <a:tc>
                  <a:txBody>
                    <a:bodyPr/>
                    <a:lstStyle/>
                    <a:p>
                      <a:pPr algn="ctr"/>
                      <a:r>
                        <a:rPr lang="en-IN" dirty="0"/>
                        <a:t> IEEE Sensors Journal </a:t>
                      </a:r>
                    </a:p>
                  </a:txBody>
                  <a:tcPr anchor="ctr">
                    <a:solidFill>
                      <a:srgbClr val="A8D5D6">
                        <a:alpha val="95686"/>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Design and Implementation of a Full-Time Artificial Intelligence of Things-Based Water Quality Inspection and Prediction System for Intelligent Aquaculture</a:t>
                      </a:r>
                    </a:p>
                  </a:txBody>
                  <a:tcPr anchor="ctr">
                    <a:solidFill>
                      <a:srgbClr val="A8D5D6">
                        <a:alpha val="95686"/>
                      </a:srgbClr>
                    </a:solidFill>
                  </a:tcPr>
                </a:tc>
                <a:tc>
                  <a:txBody>
                    <a:bodyPr/>
                    <a:lstStyle/>
                    <a:p>
                      <a:pPr algn="ctr"/>
                      <a:r>
                        <a:rPr lang="en-US" dirty="0"/>
                        <a:t>Algae growth on sensors can still affect measurement accuracy despite improved monitoring techniques.</a:t>
                      </a:r>
                      <a:endParaRPr lang="en-IN" dirty="0"/>
                    </a:p>
                  </a:txBody>
                  <a:tcPr anchor="ctr">
                    <a:solidFill>
                      <a:srgbClr val="A8D5D6">
                        <a:alpha val="95686"/>
                      </a:srgbClr>
                    </a:solidFill>
                  </a:tcPr>
                </a:tc>
                <a:extLst>
                  <a:ext uri="{0D108BD9-81ED-4DB2-BD59-A6C34878D82A}">
                    <a16:rowId xmlns:a16="http://schemas.microsoft.com/office/drawing/2014/main" val="3753076684"/>
                  </a:ext>
                </a:extLst>
              </a:tr>
              <a:tr h="1506732">
                <a:tc>
                  <a:txBody>
                    <a:bodyPr/>
                    <a:lstStyle/>
                    <a:p>
                      <a:pPr algn="ctr"/>
                      <a:r>
                        <a:rPr lang="en-IN" dirty="0"/>
                        <a:t>IEEE Transactions on Sustainable Computing</a:t>
                      </a:r>
                    </a:p>
                  </a:txBody>
                  <a:tcPr anchor="ctr">
                    <a:solidFill>
                      <a:srgbClr val="A8D5D6">
                        <a:alpha val="95686"/>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Quality Risk Analysis for Sustainable Smart Water Supply Using Data Perception</a:t>
                      </a:r>
                    </a:p>
                    <a:p>
                      <a:pPr algn="ctr"/>
                      <a:r>
                        <a:rPr lang="en-IN" b="0" dirty="0"/>
                        <a:t> </a:t>
                      </a:r>
                    </a:p>
                  </a:txBody>
                  <a:tcPr anchor="ctr">
                    <a:solidFill>
                      <a:srgbClr val="A8D5D6">
                        <a:alpha val="95686"/>
                      </a:srgbClr>
                    </a:solidFill>
                  </a:tcPr>
                </a:tc>
                <a:tc>
                  <a:txBody>
                    <a:bodyPr/>
                    <a:lstStyle/>
                    <a:p>
                      <a:pPr algn="ctr"/>
                      <a:r>
                        <a:rPr lang="en-US" dirty="0"/>
                        <a:t>Insufficient exploration of long-term ecological effects limits understanding of pollution consequences on aquatic ecosystems.</a:t>
                      </a:r>
                      <a:endParaRPr lang="en-IN" dirty="0"/>
                    </a:p>
                  </a:txBody>
                  <a:tcPr anchor="ctr">
                    <a:solidFill>
                      <a:srgbClr val="A8D5D6">
                        <a:alpha val="95686"/>
                      </a:srgbClr>
                    </a:solidFill>
                  </a:tcPr>
                </a:tc>
                <a:extLst>
                  <a:ext uri="{0D108BD9-81ED-4DB2-BD59-A6C34878D82A}">
                    <a16:rowId xmlns:a16="http://schemas.microsoft.com/office/drawing/2014/main" val="1200127454"/>
                  </a:ext>
                </a:extLst>
              </a:tr>
            </a:tbl>
          </a:graphicData>
        </a:graphic>
      </p:graphicFrame>
    </p:spTree>
    <p:extLst>
      <p:ext uri="{BB962C8B-B14F-4D97-AF65-F5344CB8AC3E}">
        <p14:creationId xmlns:p14="http://schemas.microsoft.com/office/powerpoint/2010/main" val="3210664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12F16-E64C-8D26-35BA-521F2C2F9CBB}"/>
              </a:ext>
            </a:extLst>
          </p:cNvPr>
          <p:cNvSpPr>
            <a:spLocks noGrp="1"/>
          </p:cNvSpPr>
          <p:nvPr>
            <p:ph type="title"/>
          </p:nvPr>
        </p:nvSpPr>
        <p:spPr>
          <a:xfrm>
            <a:off x="838200" y="357773"/>
            <a:ext cx="10515600" cy="829344"/>
          </a:xfrm>
        </p:spPr>
        <p:txBody>
          <a:bodyPr>
            <a:normAutofit/>
          </a:bodyPr>
          <a:lstStyle/>
          <a:p>
            <a:pPr algn="ctr"/>
            <a:r>
              <a:rPr lang="en-IN" sz="4400" dirty="0"/>
              <a:t>Research</a:t>
            </a:r>
            <a:r>
              <a:rPr lang="en-IN" sz="4400" dirty="0">
                <a:solidFill>
                  <a:schemeClr val="bg2"/>
                </a:solidFill>
              </a:rPr>
              <a:t> </a:t>
            </a:r>
            <a:r>
              <a:rPr lang="en-IN" sz="4400" dirty="0"/>
              <a:t>Objectives</a:t>
            </a:r>
          </a:p>
        </p:txBody>
      </p:sp>
      <p:sp>
        <p:nvSpPr>
          <p:cNvPr id="3" name="TextBox 2">
            <a:extLst>
              <a:ext uri="{FF2B5EF4-FFF2-40B4-BE49-F238E27FC236}">
                <a16:creationId xmlns:a16="http://schemas.microsoft.com/office/drawing/2014/main" id="{5B3FBE22-B6EB-0070-B4C5-17F6878767B0}"/>
              </a:ext>
            </a:extLst>
          </p:cNvPr>
          <p:cNvSpPr txBox="1"/>
          <p:nvPr/>
        </p:nvSpPr>
        <p:spPr>
          <a:xfrm>
            <a:off x="1267326" y="7443536"/>
            <a:ext cx="5662864" cy="4182813"/>
          </a:xfrm>
          <a:prstGeom prst="rect">
            <a:avLst/>
          </a:prstGeom>
          <a:noFill/>
        </p:spPr>
        <p:txBody>
          <a:bodyPr wrap="square" rtlCol="0">
            <a:spAutoFit/>
          </a:bodyPr>
          <a:lstStyle/>
          <a:p>
            <a:endParaRPr lang="en-IN" dirty="0"/>
          </a:p>
        </p:txBody>
      </p:sp>
      <p:sp>
        <p:nvSpPr>
          <p:cNvPr id="8" name="Rectangle 4">
            <a:extLst>
              <a:ext uri="{FF2B5EF4-FFF2-40B4-BE49-F238E27FC236}">
                <a16:creationId xmlns:a16="http://schemas.microsoft.com/office/drawing/2014/main" id="{24747B4D-246D-3685-BC7F-99527697FD1F}"/>
              </a:ext>
            </a:extLst>
          </p:cNvPr>
          <p:cNvSpPr>
            <a:spLocks noChangeArrowheads="1"/>
          </p:cNvSpPr>
          <p:nvPr/>
        </p:nvSpPr>
        <p:spPr bwMode="auto">
          <a:xfrm>
            <a:off x="268777" y="1683335"/>
            <a:ext cx="1165444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Real-Time Monitoring</a:t>
            </a:r>
            <a:r>
              <a:rPr kumimoji="0" lang="en-US" altLang="en-US" sz="1800" b="0" i="0" u="none" strike="noStrike" cap="none" normalizeH="0" baseline="0" dirty="0">
                <a:ln>
                  <a:noFill/>
                </a:ln>
                <a:effectLst/>
                <a:latin typeface="Arial" panose="020B0604020202020204" pitchFamily="34" charset="0"/>
              </a:rPr>
              <a:t>: Develop a system to continuously monitor key water quality parameters such as pH, turbidity, dissolved oxygen, and conductivity using IoT sensors.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Predictive Analytics</a:t>
            </a:r>
            <a:r>
              <a:rPr kumimoji="0" lang="en-US" altLang="en-US" sz="1800" b="0" i="0" u="none" strike="noStrike" cap="none" normalizeH="0" baseline="0" dirty="0">
                <a:ln>
                  <a:noFill/>
                </a:ln>
                <a:effectLst/>
                <a:latin typeface="Arial" panose="020B0604020202020204" pitchFamily="34" charset="0"/>
              </a:rPr>
              <a:t>: Integrate AI algorithms to analyze collected data and predict potential contamination events, enabling proactive interventions.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Energy Efficiency</a:t>
            </a:r>
            <a:r>
              <a:rPr kumimoji="0" lang="en-US" altLang="en-US" sz="1800" b="0" i="0" u="none" strike="noStrike" cap="none" normalizeH="0" baseline="0" dirty="0">
                <a:ln>
                  <a:noFill/>
                </a:ln>
                <a:effectLst/>
                <a:latin typeface="Arial" panose="020B0604020202020204" pitchFamily="34" charset="0"/>
              </a:rPr>
              <a:t>: Design the hardware and software components to minimize energy consumption, facilitating operation in remote or off-grid locations.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User-Friendly Interface</a:t>
            </a:r>
            <a:r>
              <a:rPr kumimoji="0" lang="en-US" altLang="en-US" sz="1800" b="0" i="0" u="none" strike="noStrike" cap="none" normalizeH="0" baseline="0" dirty="0">
                <a:ln>
                  <a:noFill/>
                </a:ln>
                <a:effectLst/>
                <a:latin typeface="Arial" panose="020B0604020202020204" pitchFamily="34" charset="0"/>
              </a:rPr>
              <a:t>: Create an intuitive dashboard for stakeholders to visualize data trends, receive alerts, and access real-time insights on water quality.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Scalability</a:t>
            </a:r>
            <a:r>
              <a:rPr kumimoji="0" lang="en-US" altLang="en-US" sz="1800" b="0" i="0" u="none" strike="noStrike" cap="none" normalizeH="0" baseline="0" dirty="0">
                <a:ln>
                  <a:noFill/>
                </a:ln>
                <a:effectLst/>
                <a:latin typeface="Arial" panose="020B0604020202020204" pitchFamily="34" charset="0"/>
              </a:rPr>
              <a:t>: Ensure the system architecture supports easy integration of additional sensors and functionalities for future expansion.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Sustainability Support</a:t>
            </a:r>
            <a:r>
              <a:rPr kumimoji="0" lang="en-US" altLang="en-US" sz="1800" b="0" i="0" u="none" strike="noStrike" cap="none" normalizeH="0" baseline="0" dirty="0">
                <a:ln>
                  <a:noFill/>
                </a:ln>
                <a:effectLst/>
                <a:latin typeface="Arial" panose="020B0604020202020204" pitchFamily="34" charset="0"/>
              </a:rPr>
              <a:t>: Contribute to sustainable water management practices by providing </a:t>
            </a:r>
            <a:r>
              <a:rPr kumimoji="0" lang="en-US" altLang="en-US" sz="1800" b="0" i="0" u="none" strike="noStrike" cap="none" normalizeH="0" baseline="0" dirty="0" err="1">
                <a:ln>
                  <a:noFill/>
                </a:ln>
                <a:effectLst/>
                <a:latin typeface="Arial" panose="020B0604020202020204" pitchFamily="34" charset="0"/>
              </a:rPr>
              <a:t>ationable</a:t>
            </a:r>
            <a:r>
              <a:rPr kumimoji="0" lang="en-US" altLang="en-US" sz="1800" b="0" i="0" u="none" strike="noStrike" cap="none" normalizeH="0" baseline="0" dirty="0">
                <a:ln>
                  <a:noFill/>
                </a:ln>
                <a:effectLst/>
                <a:latin typeface="Arial" panose="020B0604020202020204" pitchFamily="34" charset="0"/>
              </a:rPr>
              <a:t> insights and recommendations based on real-time data analysis.</a:t>
            </a:r>
          </a:p>
        </p:txBody>
      </p:sp>
    </p:spTree>
    <p:extLst>
      <p:ext uri="{BB962C8B-B14F-4D97-AF65-F5344CB8AC3E}">
        <p14:creationId xmlns:p14="http://schemas.microsoft.com/office/powerpoint/2010/main" val="222273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88E47-887F-90E6-CBB6-A304E0884EE0}"/>
              </a:ext>
            </a:extLst>
          </p:cNvPr>
          <p:cNvSpPr>
            <a:spLocks noGrp="1"/>
          </p:cNvSpPr>
          <p:nvPr>
            <p:ph type="title"/>
          </p:nvPr>
        </p:nvSpPr>
        <p:spPr>
          <a:xfrm>
            <a:off x="310342" y="190039"/>
            <a:ext cx="11571316" cy="1325563"/>
          </a:xfrm>
        </p:spPr>
        <p:txBody>
          <a:bodyPr>
            <a:normAutofit/>
          </a:bodyPr>
          <a:lstStyle/>
          <a:p>
            <a:pPr algn="ctr"/>
            <a:r>
              <a:rPr lang="en-IN" sz="4400" dirty="0">
                <a:solidFill>
                  <a:schemeClr val="tx1"/>
                </a:solidFill>
              </a:rPr>
              <a:t>Justification to SDG 6 : Clean Water and Sanitation</a:t>
            </a:r>
          </a:p>
        </p:txBody>
      </p:sp>
      <p:sp>
        <p:nvSpPr>
          <p:cNvPr id="3" name="Rectangle 1">
            <a:extLst>
              <a:ext uri="{FF2B5EF4-FFF2-40B4-BE49-F238E27FC236}">
                <a16:creationId xmlns:a16="http://schemas.microsoft.com/office/drawing/2014/main" id="{887A04D5-8B32-B4CC-D1EC-804FDC71EA11}"/>
              </a:ext>
            </a:extLst>
          </p:cNvPr>
          <p:cNvSpPr>
            <a:spLocks noGrp="1" noChangeArrowheads="1"/>
          </p:cNvSpPr>
          <p:nvPr>
            <p:ph idx="1"/>
          </p:nvPr>
        </p:nvSpPr>
        <p:spPr bwMode="auto">
          <a:xfrm>
            <a:off x="309562" y="1740840"/>
            <a:ext cx="1157209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Continuous Water Quality Monitoring</a:t>
            </a:r>
            <a:r>
              <a:rPr kumimoji="0" lang="en-US" altLang="en-US" sz="1800" b="0" i="0" u="none" strike="noStrike" cap="none" normalizeH="0" baseline="0" dirty="0">
                <a:ln>
                  <a:noFill/>
                </a:ln>
                <a:solidFill>
                  <a:schemeClr val="tx1"/>
                </a:solidFill>
                <a:effectLst/>
                <a:latin typeface="Arial" panose="020B0604020202020204" pitchFamily="34" charset="0"/>
              </a:rPr>
              <a:t>: The system ensures 24/7 real-time assessment of critical water quality parameters, helping maintain safe water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Early Contamination Detection</a:t>
            </a:r>
            <a:r>
              <a:rPr kumimoji="0" lang="en-US" altLang="en-US" sz="1800" b="0" i="0" u="none" strike="noStrike" cap="none" normalizeH="0" baseline="0" dirty="0">
                <a:ln>
                  <a:noFill/>
                </a:ln>
                <a:solidFill>
                  <a:schemeClr val="tx1"/>
                </a:solidFill>
                <a:effectLst/>
                <a:latin typeface="Arial" panose="020B0604020202020204" pitchFamily="34" charset="0"/>
              </a:rPr>
              <a:t>: By detecting pollutants early, the system enables timely interventions, reducing health risks related to water contamination.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Data-Driven Water Management</a:t>
            </a:r>
            <a:r>
              <a:rPr kumimoji="0" lang="en-US" altLang="en-US" sz="1800" b="0" i="0" u="none" strike="noStrike" cap="none" normalizeH="0" baseline="0" dirty="0">
                <a:ln>
                  <a:noFill/>
                </a:ln>
                <a:solidFill>
                  <a:schemeClr val="tx1"/>
                </a:solidFill>
                <a:effectLst/>
                <a:latin typeface="Arial" panose="020B0604020202020204" pitchFamily="34" charset="0"/>
              </a:rPr>
              <a:t>: Provides actionable insights to authorities and stakeholders for informed decisions on water treatment and resource allocation.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Promoting Safe Water Access</a:t>
            </a:r>
            <a:r>
              <a:rPr kumimoji="0" lang="en-US" altLang="en-US" sz="1800" b="0" i="0" u="none" strike="noStrike" cap="none" normalizeH="0" baseline="0" dirty="0">
                <a:ln>
                  <a:noFill/>
                </a:ln>
                <a:solidFill>
                  <a:schemeClr val="tx1"/>
                </a:solidFill>
                <a:effectLst/>
                <a:latin typeface="Arial" panose="020B0604020202020204" pitchFamily="34" charset="0"/>
              </a:rPr>
              <a:t>: Enhances the ability to track water quality in both urban and rural areas, contributing to the broader goal of universal access to clean water.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Reducing Pollution</a:t>
            </a:r>
            <a:r>
              <a:rPr kumimoji="0" lang="en-US" altLang="en-US" sz="1800" b="0" i="0" u="none" strike="noStrike" cap="none" normalizeH="0" baseline="0" dirty="0">
                <a:ln>
                  <a:noFill/>
                </a:ln>
                <a:solidFill>
                  <a:schemeClr val="tx1"/>
                </a:solidFill>
                <a:effectLst/>
                <a:latin typeface="Arial" panose="020B0604020202020204" pitchFamily="34" charset="0"/>
              </a:rPr>
              <a:t>: Helps identify sources of water pollution and mitigates its impact by enabling proactive corrective measures, supporting environmental conservation.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Supporting Sustainable Practices</a:t>
            </a:r>
            <a:r>
              <a:rPr kumimoji="0" lang="en-US" altLang="en-US" sz="1800" b="0" i="0" u="none" strike="noStrike" cap="none" normalizeH="0" baseline="0" dirty="0">
                <a:ln>
                  <a:noFill/>
                </a:ln>
                <a:solidFill>
                  <a:schemeClr val="tx1"/>
                </a:solidFill>
                <a:effectLst/>
                <a:latin typeface="Arial" panose="020B0604020202020204" pitchFamily="34" charset="0"/>
              </a:rPr>
              <a:t>: Encourages responsible water consumption and conservation through accurate, real-time monitoring, aligning with long-term sustainability goals.</a:t>
            </a:r>
          </a:p>
        </p:txBody>
      </p:sp>
    </p:spTree>
    <p:extLst>
      <p:ext uri="{BB962C8B-B14F-4D97-AF65-F5344CB8AC3E}">
        <p14:creationId xmlns:p14="http://schemas.microsoft.com/office/powerpoint/2010/main" val="4114654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AEA95-D6C8-C04B-753D-FF8B7930FE5E}"/>
              </a:ext>
            </a:extLst>
          </p:cNvPr>
          <p:cNvSpPr>
            <a:spLocks noGrp="1"/>
          </p:cNvSpPr>
          <p:nvPr>
            <p:ph type="title"/>
          </p:nvPr>
        </p:nvSpPr>
        <p:spPr>
          <a:xfrm>
            <a:off x="838200" y="365126"/>
            <a:ext cx="10515600" cy="765405"/>
          </a:xfrm>
        </p:spPr>
        <p:txBody>
          <a:bodyPr>
            <a:normAutofit/>
          </a:bodyPr>
          <a:lstStyle/>
          <a:p>
            <a:r>
              <a:rPr lang="en-IN" sz="4400" dirty="0"/>
              <a:t>Timeline</a:t>
            </a:r>
          </a:p>
        </p:txBody>
      </p:sp>
      <p:pic>
        <p:nvPicPr>
          <p:cNvPr id="10" name="Content Placeholder 9">
            <a:extLst>
              <a:ext uri="{FF2B5EF4-FFF2-40B4-BE49-F238E27FC236}">
                <a16:creationId xmlns:a16="http://schemas.microsoft.com/office/drawing/2014/main" id="{974C075C-3826-8B1E-2E21-2BB352E2E099}"/>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8655" y="1443744"/>
            <a:ext cx="11554690" cy="4824051"/>
          </a:xfrm>
        </p:spPr>
      </p:pic>
      <p:sp>
        <p:nvSpPr>
          <p:cNvPr id="4" name="Rectangle: Single Corner Snipped 3">
            <a:extLst>
              <a:ext uri="{FF2B5EF4-FFF2-40B4-BE49-F238E27FC236}">
                <a16:creationId xmlns:a16="http://schemas.microsoft.com/office/drawing/2014/main" id="{339BD8F6-2D28-4F81-DC84-693B4A61B46D}"/>
              </a:ext>
            </a:extLst>
          </p:cNvPr>
          <p:cNvSpPr/>
          <p:nvPr/>
        </p:nvSpPr>
        <p:spPr>
          <a:xfrm>
            <a:off x="584660" y="2977600"/>
            <a:ext cx="2358045" cy="2172681"/>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dirty="0"/>
              <a:t>Project Review 1: </a:t>
            </a:r>
          </a:p>
          <a:p>
            <a:pPr algn="ctr"/>
            <a:endParaRPr lang="en-IN" dirty="0"/>
          </a:p>
          <a:p>
            <a:pPr algn="r"/>
            <a:r>
              <a:rPr lang="en-IN" dirty="0"/>
              <a:t>Project Kick-off &amp; Initial Development</a:t>
            </a:r>
          </a:p>
        </p:txBody>
      </p:sp>
      <p:sp>
        <p:nvSpPr>
          <p:cNvPr id="7" name="Rectangle: Single Corner Snipped 6">
            <a:extLst>
              <a:ext uri="{FF2B5EF4-FFF2-40B4-BE49-F238E27FC236}">
                <a16:creationId xmlns:a16="http://schemas.microsoft.com/office/drawing/2014/main" id="{6A2C410A-B590-1FD0-A324-867F2043997C}"/>
              </a:ext>
            </a:extLst>
          </p:cNvPr>
          <p:cNvSpPr/>
          <p:nvPr/>
        </p:nvSpPr>
        <p:spPr>
          <a:xfrm>
            <a:off x="4535287" y="2852761"/>
            <a:ext cx="2051856" cy="2422354"/>
          </a:xfrm>
          <a:prstGeom prst="snip1Rect">
            <a:avLst/>
          </a:prstGeom>
          <a:solidFill>
            <a:schemeClr val="accent2">
              <a:lumMod val="40000"/>
              <a:lumOff val="6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n-IN" dirty="0"/>
              <a:t>Project Review 2:</a:t>
            </a:r>
          </a:p>
          <a:p>
            <a:pPr algn="ctr"/>
            <a:endParaRPr lang="en-IN" dirty="0"/>
          </a:p>
          <a:p>
            <a:pPr algn="ctr"/>
            <a:r>
              <a:rPr lang="en-IN" dirty="0"/>
              <a:t> System Implementation &amp; Coding Including Testing</a:t>
            </a:r>
          </a:p>
        </p:txBody>
      </p:sp>
      <p:sp>
        <p:nvSpPr>
          <p:cNvPr id="8" name="Rectangle: Single Corner Snipped 7">
            <a:extLst>
              <a:ext uri="{FF2B5EF4-FFF2-40B4-BE49-F238E27FC236}">
                <a16:creationId xmlns:a16="http://schemas.microsoft.com/office/drawing/2014/main" id="{0AADD7A6-93DA-3A3C-968F-67D28CB9F316}"/>
              </a:ext>
            </a:extLst>
          </p:cNvPr>
          <p:cNvSpPr/>
          <p:nvPr/>
        </p:nvSpPr>
        <p:spPr>
          <a:xfrm>
            <a:off x="7931216" y="2977605"/>
            <a:ext cx="2051856" cy="2172676"/>
          </a:xfrm>
          <a:prstGeom prst="snip1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r"/>
            <a:r>
              <a:rPr lang="en-IN" dirty="0"/>
              <a:t>Project review 3:</a:t>
            </a:r>
          </a:p>
          <a:p>
            <a:pPr algn="ctr"/>
            <a:r>
              <a:rPr lang="en-IN" dirty="0"/>
              <a:t>11</a:t>
            </a:r>
            <a:r>
              <a:rPr lang="en-IN" baseline="30000" dirty="0"/>
              <a:t>th</a:t>
            </a:r>
            <a:r>
              <a:rPr lang="en-IN" dirty="0"/>
              <a:t> November</a:t>
            </a:r>
          </a:p>
          <a:p>
            <a:pPr algn="ctr"/>
            <a:r>
              <a:rPr lang="en-IN" dirty="0"/>
              <a:t>2024</a:t>
            </a:r>
          </a:p>
          <a:p>
            <a:pPr algn="ctr"/>
            <a:r>
              <a:rPr lang="en-US" dirty="0"/>
              <a:t>Present the final project</a:t>
            </a:r>
          </a:p>
        </p:txBody>
      </p:sp>
      <p:cxnSp>
        <p:nvCxnSpPr>
          <p:cNvPr id="14" name="Straight Arrow Connector 13">
            <a:extLst>
              <a:ext uri="{FF2B5EF4-FFF2-40B4-BE49-F238E27FC236}">
                <a16:creationId xmlns:a16="http://schemas.microsoft.com/office/drawing/2014/main" id="{D100A5CF-6B53-1BE2-65DE-CFFFED82FF11}"/>
              </a:ext>
            </a:extLst>
          </p:cNvPr>
          <p:cNvCxnSpPr/>
          <p:nvPr/>
        </p:nvCxnSpPr>
        <p:spPr>
          <a:xfrm>
            <a:off x="3103127" y="3429000"/>
            <a:ext cx="12302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0CD2430-8EA1-6937-2AF9-64AA411FAC06}"/>
              </a:ext>
            </a:extLst>
          </p:cNvPr>
          <p:cNvCxnSpPr>
            <a:cxnSpLocks/>
          </p:cNvCxnSpPr>
          <p:nvPr/>
        </p:nvCxnSpPr>
        <p:spPr>
          <a:xfrm>
            <a:off x="6670422" y="3446890"/>
            <a:ext cx="117751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0514697"/>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docProps/app.xml><?xml version="1.0" encoding="utf-8"?>
<Properties xmlns="http://schemas.openxmlformats.org/officeDocument/2006/extended-properties" xmlns:vt="http://schemas.openxmlformats.org/officeDocument/2006/docPropsVTypes">
  <Template>Minimalist presentation</Template>
  <TotalTime>143</TotalTime>
  <Words>814</Words>
  <Application>Microsoft Office PowerPoint</Application>
  <PresentationFormat>Widescreen</PresentationFormat>
  <Paragraphs>83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Tenorite</vt:lpstr>
      <vt:lpstr>Custom</vt:lpstr>
      <vt:lpstr>Smart Water Quality Monitoring System</vt:lpstr>
      <vt:lpstr>Abstract</vt:lpstr>
      <vt:lpstr>Introduction</vt:lpstr>
      <vt:lpstr>Literature Survey in Table Format</vt:lpstr>
      <vt:lpstr>Limitations Identified from Literature Survey</vt:lpstr>
      <vt:lpstr>Research Objectives</vt:lpstr>
      <vt:lpstr>Justification to SDG 6 : Clean Water and Sanitation</vt:lpstr>
      <vt:lpstr>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Siddhant Damre</dc:creator>
  <cp:lastModifiedBy>Siddhant Damre</cp:lastModifiedBy>
  <cp:revision>7</cp:revision>
  <dcterms:created xsi:type="dcterms:W3CDTF">2024-10-07T20:06:34Z</dcterms:created>
  <dcterms:modified xsi:type="dcterms:W3CDTF">2024-10-08T05:22:58Z</dcterms:modified>
</cp:coreProperties>
</file>